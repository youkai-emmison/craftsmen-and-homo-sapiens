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3492848cb74a44" /><Relationship Type="http://schemas.openxmlformats.org/officeDocument/2006/relationships/extended-properties" Target="/docProps/app.xml" Id="R7efc3e645aa74537" /><Relationship Type="http://schemas.openxmlformats.org/officeDocument/2006/relationships/officeDocument" Target="/ppt/presentation.xml" Id="Rb763fa2b0fd542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1feda845d6481a"/>
  </p:sldMasterIdLst>
  <p:notesMasterIdLst>
    <p:notesMasterId xmlns:r="http://schemas.openxmlformats.org/officeDocument/2006/relationships" r:id="Ra46c84ed72d04054"/>
  </p:notesMasterIdLst>
  <p:sldIdLst>
    <p:sldId xmlns:r="http://schemas.openxmlformats.org/officeDocument/2006/relationships" id="256" r:id="Rf73f4ec4cd4747f8"/>
    <p:sldId xmlns:r="http://schemas.openxmlformats.org/officeDocument/2006/relationships" id="257" r:id="Rc9e69edde0ae46d1"/>
    <p:sldId xmlns:r="http://schemas.openxmlformats.org/officeDocument/2006/relationships" id="258" r:id="Rb0cabfce32934022"/>
    <p:sldId xmlns:r="http://schemas.openxmlformats.org/officeDocument/2006/relationships" id="259" r:id="R0b66b61adfe04040"/>
    <p:sldId xmlns:r="http://schemas.openxmlformats.org/officeDocument/2006/relationships" id="260" r:id="Rd7a317c9631b47bb"/>
    <p:sldId xmlns:r="http://schemas.openxmlformats.org/officeDocument/2006/relationships" id="261" r:id="Rc03d6cfbc88346bc"/>
    <p:sldId xmlns:r="http://schemas.openxmlformats.org/officeDocument/2006/relationships" id="262" r:id="R028e3752d3b74c92"/>
    <p:sldId xmlns:r="http://schemas.openxmlformats.org/officeDocument/2006/relationships" id="263" r:id="Ra4a229b088e4492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39b4fd9d054985" /><Relationship Type="http://schemas.openxmlformats.org/officeDocument/2006/relationships/slideMaster" Target="/ppt/slideMasters/slideMaster1.xml" Id="Ra81feda845d6481a" /><Relationship Type="http://schemas.openxmlformats.org/officeDocument/2006/relationships/notesMaster" Target="/ppt/notesMasters/notesMaster1.xml" Id="Ra46c84ed72d04054" /><Relationship Type="http://schemas.openxmlformats.org/officeDocument/2006/relationships/presProps" Target="/ppt/presProps.xml" Id="R8c53cae759e24da5" /><Relationship Type="http://schemas.openxmlformats.org/officeDocument/2006/relationships/tableStyles" Target="/ppt/tableStyles.xml" Id="R4fcc057220724d01" /><Relationship Type="http://schemas.openxmlformats.org/officeDocument/2006/relationships/slide" Target="/ppt/slides/slide1.xml" Id="Rf73f4ec4cd4747f8" /><Relationship Type="http://schemas.openxmlformats.org/officeDocument/2006/relationships/slide" Target="/ppt/slides/slide2.xml" Id="Rc9e69edde0ae46d1" /><Relationship Type="http://schemas.openxmlformats.org/officeDocument/2006/relationships/slide" Target="/ppt/slides/slide3.xml" Id="Rb0cabfce32934022" /><Relationship Type="http://schemas.openxmlformats.org/officeDocument/2006/relationships/slide" Target="/ppt/slides/slide4.xml" Id="R0b66b61adfe04040" /><Relationship Type="http://schemas.openxmlformats.org/officeDocument/2006/relationships/slide" Target="/ppt/slides/slide5.xml" Id="Rd7a317c9631b47bb" /><Relationship Type="http://schemas.openxmlformats.org/officeDocument/2006/relationships/slide" Target="/ppt/slides/slide6.xml" Id="Rc03d6cfbc88346bc" /><Relationship Type="http://schemas.openxmlformats.org/officeDocument/2006/relationships/slide" Target="/ppt/slides/slide7.xml" Id="R028e3752d3b74c92" /><Relationship Type="http://schemas.openxmlformats.org/officeDocument/2006/relationships/slide" Target="/ppt/slides/slide8.xml" Id="Ra4a229b088e449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e7b70d5fed4d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14dda471f84927" /><Relationship Type="http://schemas.openxmlformats.org/officeDocument/2006/relationships/notesMaster" Target="/ppt/notesMasters/notesMaster1.xml" Id="Rfaab224e4e0148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1bb1b399e040c8" /><Relationship Type="http://schemas.openxmlformats.org/officeDocument/2006/relationships/notesMaster" Target="/ppt/notesMasters/notesMaster1.xml" Id="Rca5b120059b748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006167646c4559" /><Relationship Type="http://schemas.openxmlformats.org/officeDocument/2006/relationships/notesMaster" Target="/ppt/notesMasters/notesMaster1.xml" Id="R125b7879315248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3f2385149b48a1" /><Relationship Type="http://schemas.openxmlformats.org/officeDocument/2006/relationships/notesMaster" Target="/ppt/notesMasters/notesMaster1.xml" Id="Rc9e275f7a80c4f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decdff60de4368" /><Relationship Type="http://schemas.openxmlformats.org/officeDocument/2006/relationships/notesMaster" Target="/ppt/notesMasters/notesMaster1.xml" Id="Rc95dbbaab3524b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28dd48d45940f6" /><Relationship Type="http://schemas.openxmlformats.org/officeDocument/2006/relationships/notesMaster" Target="/ppt/notesMasters/notesMaster1.xml" Id="R78038d58e1fa4c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a6597f956445f3" /><Relationship Type="http://schemas.openxmlformats.org/officeDocument/2006/relationships/notesMaster" Target="/ppt/notesMasters/notesMaster1.xml" Id="R77136d00895d49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2efbdd95be4a2b" /><Relationship Type="http://schemas.openxmlformats.org/officeDocument/2006/relationships/notesMaster" Target="/ppt/notesMasters/notesMaster1.xml" Id="R3176748c7bf34a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394b85047442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f7d7493cd84f7a" /><Relationship Type="http://schemas.openxmlformats.org/officeDocument/2006/relationships/slideLayout" Target="/ppt/slideLayouts/slideLayout1.xml" Id="R33ea6e9af82949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ea6e9af82949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e1a85aa90465c" /><Relationship Type="http://schemas.openxmlformats.org/officeDocument/2006/relationships/image" Target="/ppt/media/image.png" Id="R6932b04c4ce74d17" /><Relationship Type="http://schemas.openxmlformats.org/officeDocument/2006/relationships/notesSlide" Target="/ppt/notesSlides/notesSlide1.xml" Id="Rc9e9519a9cee49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702a440e14ab4" /><Relationship Type="http://schemas.openxmlformats.org/officeDocument/2006/relationships/image" Target="/ppt/media/image2.png" Id="R0ef6c17d16b04dee" /><Relationship Type="http://schemas.openxmlformats.org/officeDocument/2006/relationships/notesSlide" Target="/ppt/notesSlides/notesSlide2.xml" Id="Ra79461f75ea249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7cb94731440ca" /><Relationship Type="http://schemas.openxmlformats.org/officeDocument/2006/relationships/image" Target="/ppt/media/image3.png" Id="Rcdfba16d349f47aa" /><Relationship Type="http://schemas.openxmlformats.org/officeDocument/2006/relationships/notesSlide" Target="/ppt/notesSlides/notesSlide3.xml" Id="Rfaf113509b6044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f84b5ac354cfd" /><Relationship Type="http://schemas.openxmlformats.org/officeDocument/2006/relationships/image" Target="/ppt/media/image4.png" Id="Ra39677fdd5ca47f5" /><Relationship Type="http://schemas.openxmlformats.org/officeDocument/2006/relationships/image" Target="/ppt/media/image5.png" Id="Re0d8e68b11094c5d" /><Relationship Type="http://schemas.openxmlformats.org/officeDocument/2006/relationships/notesSlide" Target="/ppt/notesSlides/notesSlide4.xml" Id="Ra1cdbdb97ac94a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6249ce55f4478" /><Relationship Type="http://schemas.openxmlformats.org/officeDocument/2006/relationships/image" Target="/ppt/media/image6.png" Id="R70818ffce3064d1d" /><Relationship Type="http://schemas.openxmlformats.org/officeDocument/2006/relationships/notesSlide" Target="/ppt/notesSlides/notesSlide5.xml" Id="R057e9c5284594a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4c9d41793644ed" /><Relationship Type="http://schemas.openxmlformats.org/officeDocument/2006/relationships/image" Target="/ppt/media/image7.png" Id="R26035baf570c4783" /><Relationship Type="http://schemas.openxmlformats.org/officeDocument/2006/relationships/notesSlide" Target="/ppt/notesSlides/notesSlide6.xml" Id="R59ebda386ef54f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35aa41255441d" /><Relationship Type="http://schemas.openxmlformats.org/officeDocument/2006/relationships/image" Target="/ppt/media/image8.png" Id="Rd42e8c6a2b0b4226" /><Relationship Type="http://schemas.openxmlformats.org/officeDocument/2006/relationships/notesSlide" Target="/ppt/notesSlides/notesSlide7.xml" Id="Re538cca0b57146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ce6dbf64a47a4" /><Relationship Type="http://schemas.openxmlformats.org/officeDocument/2006/relationships/image" Target="/ppt/media/image9.png" Id="Rf1e4645b140e40a2" /><Relationship Type="http://schemas.openxmlformats.org/officeDocument/2006/relationships/notesSlide" Target="/ppt/notesSlides/notesSlide8.xml" Id="R77e0899bdb7547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6FAFD6-37BF-4A90-A7D8-0DB974FE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61950" y="4953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C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EF40AF-47C9-4A8D-9D22-6824B539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-4381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0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95E8D-3318-4E85-8ABA-A8E0CF15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56959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C609CF-F2B0-4DE6-BD50-09429E6A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80B8"/>
                </a:solidFill>
              </a:defRPr>
            </a:pPr>
            <a:r>
              <a:rPr sz="975" b="1">
                <a:solidFill>
                  <a:srgbClr val="FF80B8"/>
                </a:solidFill>
              </a:rPr>
              <a:t>01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0C451F-8E89-4038-9DA6-9D1907DC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4325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95F84"/>
                </a:solidFill>
              </a:defRPr>
            </a:pPr>
            <a:r>
              <a:rPr sz="975" b="1">
                <a:solidFill>
                  <a:srgbClr val="695F84"/>
                </a:solidFill>
              </a:rPr>
              <a:t>Title Slide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2B0F68-3DDC-49AF-9DE8-E0BD114E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838200"/>
            <a:ext cx="7239000" cy="4953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80B8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32b04c4ce74d17"/>
          <a:stretch xmlns:a="http://schemas.openxmlformats.org/drawingml/2006/main"/>
        </p:blipFill>
        <p:spPr>
          <a:xfrm xmlns:a="http://schemas.openxmlformats.org/drawingml/2006/main">
            <a:off x="4400550" y="1343025"/>
            <a:ext cx="7010400" cy="3943350"/>
          </a:xfrm>
          <a:prstGeom xmlns:a="http://schemas.openxmlformats.org/drawingml/2006/main" prst="roundRect">
            <a:avLst>
              <a:gd name="adj" fmla="val 241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06471C-0F0C-489B-82CB-D8E84153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4762500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F80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188A00-CD08-45E5-A478-D4A8F780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5255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322853"/>
                </a:solidFill>
              </a:defRPr>
            </a:pPr>
            <a:r>
              <a:rPr sz="3300" b="1">
                <a:solidFill>
                  <a:srgbClr val="322853"/>
                </a:solidFill>
              </a:rPr>
              <a:t>能工智人：遗忘工坊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3B5230-9B5B-4A1C-B5E3-B06C4904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34893"/>
                </a:solidFill>
              </a:defRPr>
            </a:pPr>
            <a:r>
              <a:rPr sz="1800" b="1">
                <a:solidFill>
                  <a:srgbClr val="634893"/>
                </a:solidFill>
              </a:rPr>
              <a:t>Craftsmen and Homo Sapiens:</a:t>
            </a:r>
          </a:p>
          <a:p xmlns:a="http://schemas.openxmlformats.org/drawingml/2006/main">
            <a:pPr>
              <a:defRPr sz="1800" b="1">
                <a:solidFill>
                  <a:srgbClr val="634893"/>
                </a:solidFill>
              </a:defRPr>
            </a:pPr>
            <a:r>
              <a:rPr sz="1800" b="1">
                <a:solidFill>
                  <a:srgbClr val="634893"/>
                </a:solidFill>
              </a:rPr>
              <a:t>The Forgotten Forge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5823FD-C72D-4033-9112-CBC17778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80B8"/>
                </a:solidFill>
              </a:defRPr>
            </a:pPr>
            <a:r>
              <a:rPr sz="1725" b="1">
                <a:solidFill>
                  <a:srgbClr val="FF80B8"/>
                </a:solidFill>
              </a:rPr>
              <a:t>叙事类游戏 / Narrative Games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DB1CE-6FBC-4A6B-9D56-D3B2D52B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5280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22853"/>
                </a:solidFill>
              </a:defRPr>
            </a:pPr>
            <a:r>
              <a:rPr sz="1575">
                <a:solidFill>
                  <a:srgbClr val="322853"/>
                </a:solidFill>
              </a:rPr>
              <a:t>AI 叙事 + 横版动作 + 工坊记忆日志。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56FF55-DD4F-41C5-9BF5-EDC7B7B5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38862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22853"/>
          </a:solidFill>
          <a:ln xmlns:a="http://schemas.openxmlformats.org/drawingml/2006/main" w="19050">
            <a:solidFill>
              <a:srgbClr val="74C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DF9E1C-1F1C-461B-8460-25BA4D44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AI 世界观与剧情生成  /  游戏原画整理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1CA1E3-7990-4C3B-A65B-8473D92E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95F84"/>
                </a:solidFill>
              </a:defRPr>
            </a:pPr>
            <a:r>
              <a:rPr sz="900">
                <a:solidFill>
                  <a:srgbClr val="695F84"/>
                </a:solidFill>
              </a:rPr>
              <a:t>Demo Link / Video Link / Team：待回填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C2B7ED-E273-4273-816E-47587D88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515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34893"/>
                </a:solidFill>
              </a:defRPr>
            </a:pPr>
            <a:r>
              <a:rPr sz="825">
                <a:solidFill>
                  <a:srgbClr val="634893"/>
                </a:solidFill>
              </a:rPr>
              <a:t>No fake deployment, no fake demo video, no fake Unity screenshots.</a:t>
            </a:r>
          </a:p>
        </p:txBody>
      </p:sp>
    </p:spTree>
    <p:extLst>
      <p:ext uri="{BB962C8B-B14F-4D97-AF65-F5344CB8AC3E}">
        <p14:creationId xmlns:p14="http://schemas.microsoft.com/office/powerpoint/2010/main" val="5826549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2575A0-5420-4BDA-A452-25D3D283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61950" y="4953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C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A4D464-F8C1-40C9-B4E9-4DEC5617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-4381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0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18D775-76DC-456E-A117-3AB0E648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56959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3F55A1-8ED8-41A3-A7CC-EEF2AEAE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80B8"/>
                </a:solidFill>
              </a:defRPr>
            </a:pPr>
            <a:r>
              <a:rPr sz="975" b="1">
                <a:solidFill>
                  <a:srgbClr val="FF80B8"/>
                </a:solidFill>
              </a:rPr>
              <a:t>02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CC0F45-396E-4ACD-8294-218480AC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4325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95F84"/>
                </a:solidFill>
              </a:defRPr>
            </a:pPr>
            <a:r>
              <a:rPr sz="975" b="1">
                <a:solidFill>
                  <a:srgbClr val="695F84"/>
                </a:solidFill>
              </a:rPr>
              <a:t>What It 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E5FC74-31FD-406F-9413-3059944C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5334000" cy="4762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4CDFF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f6c17d16b04dee"/>
          <a:stretch xmlns:a="http://schemas.openxmlformats.org/drawingml/2006/main"/>
        </p:blipFill>
        <p:spPr>
          <a:xfrm xmlns:a="http://schemas.openxmlformats.org/drawingml/2006/main">
            <a:off x="628650" y="1859756"/>
            <a:ext cx="5105400" cy="2871788"/>
          </a:xfrm>
          <a:prstGeom xmlns:a="http://schemas.openxmlformats.org/drawingml/2006/main" prst="roundRect">
            <a:avLst>
              <a:gd name="adj" fmla="val 252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B9D368-1BF2-4896-8A7D-8386F72F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87630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22853"/>
                </a:solidFill>
              </a:defRPr>
            </a:pPr>
            <a:r>
              <a:rPr sz="3150" b="1">
                <a:solidFill>
                  <a:srgbClr val="322853"/>
                </a:solidFill>
              </a:rPr>
              <a:t>游戏是什么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812DFC-94D5-4BB2-A15D-8B01352E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24000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95F84"/>
                </a:solidFill>
              </a:defRPr>
            </a:pPr>
            <a:r>
              <a:rPr sz="1800">
                <a:solidFill>
                  <a:srgbClr val="695F84"/>
                </a:solidFill>
              </a:rPr>
              <a:t>玩家进入一座会留下记忆的地下工坊，在轻量动作战斗中拼合文明冲突的真相。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48A896-B624-4734-AC65-32021EBF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14625"/>
            <a:ext cx="4476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DDEF"/>
          </a:solidFill>
          <a:ln xmlns:a="http://schemas.openxmlformats.org/drawingml/2006/main" w="14288">
            <a:solidFill>
              <a:srgbClr val="FF80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ED3016-D9BA-4CB4-88A8-3971968D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670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0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71B079-AA4B-4D2B-AD97-B8B5CE15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28925"/>
            <a:ext cx="382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22853"/>
                </a:solidFill>
              </a:defRPr>
            </a:pPr>
            <a:r>
              <a:rPr sz="1575" b="1">
                <a:solidFill>
                  <a:srgbClr val="322853"/>
                </a:solidFill>
              </a:rPr>
              <a:t>横版动作：移动、跳跃、近战攻击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556209-6ADA-4531-A8BD-8784137B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76625"/>
            <a:ext cx="4476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EF5FF"/>
          </a:solidFill>
          <a:ln xmlns:a="http://schemas.openxmlformats.org/drawingml/2006/main" w="14288">
            <a:solidFill>
              <a:srgbClr val="74C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C67C30-FB38-4F1B-B7FA-61946C4B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290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C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DEA066-C951-46B1-B603-DBD0CA51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90925"/>
            <a:ext cx="382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22853"/>
                </a:solidFill>
              </a:defRPr>
            </a:pPr>
            <a:r>
              <a:rPr sz="1575" b="1">
                <a:solidFill>
                  <a:srgbClr val="322853"/>
                </a:solidFill>
              </a:rPr>
              <a:t>房间推进：清敌、解锁、进入下一段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3FF6E5-3791-46DD-9C61-5A75CCC3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38625"/>
            <a:ext cx="4476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DDEF"/>
          </a:solidFill>
          <a:ln xmlns:a="http://schemas.openxmlformats.org/drawingml/2006/main" w="14288">
            <a:solidFill>
              <a:srgbClr val="FF80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736EB1-74D9-4C24-9C80-E8013BEE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910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0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B81090-5956-4D90-A51E-4E2E2E40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352925"/>
            <a:ext cx="382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22853"/>
                </a:solidFill>
              </a:defRPr>
            </a:pPr>
            <a:r>
              <a:rPr sz="1575" b="1">
                <a:solidFill>
                  <a:srgbClr val="322853"/>
                </a:solidFill>
              </a:rPr>
              <a:t>AI 记忆日志：战斗中逐步补全世界观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12D382-D62A-4AA7-806A-86A66692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95F84"/>
                </a:solidFill>
              </a:defRPr>
            </a:pPr>
            <a:r>
              <a:rPr sz="900">
                <a:solidFill>
                  <a:srgbClr val="695F84"/>
                </a:solidFill>
              </a:rPr>
              <a:t>Demo Link / Video Link / Team：待回填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F0A526-33DC-4FD7-90AB-FF950303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515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34893"/>
                </a:solidFill>
              </a:defRPr>
            </a:pPr>
            <a:r>
              <a:rPr sz="825">
                <a:solidFill>
                  <a:srgbClr val="634893"/>
                </a:solidFill>
              </a:rPr>
              <a:t>No fake deployment, no fake demo video, no fake Unity screenshots.</a:t>
            </a:r>
          </a:p>
        </p:txBody>
      </p:sp>
    </p:spTree>
    <p:extLst>
      <p:ext uri="{BB962C8B-B14F-4D97-AF65-F5344CB8AC3E}">
        <p14:creationId xmlns:p14="http://schemas.microsoft.com/office/powerpoint/2010/main" val="12770357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AB5059-0162-4B27-9E1F-64041BD4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61950" y="4953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C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E62DA7-AFE4-4D2E-B0C1-5DAA4D71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-4381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0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5F96F1-D249-4321-804B-FE60B164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56959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00FF1-A3B1-40EC-AF71-FC6947ED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80B8"/>
                </a:solidFill>
              </a:defRPr>
            </a:pPr>
            <a:r>
              <a:rPr sz="975" b="1">
                <a:solidFill>
                  <a:srgbClr val="FF80B8"/>
                </a:solidFill>
              </a:rPr>
              <a:t>03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50A38-B581-418E-9758-23EF15F0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4325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95F84"/>
                </a:solidFill>
              </a:defRPr>
            </a:pPr>
            <a:r>
              <a:rPr sz="975" b="1">
                <a:solidFill>
                  <a:srgbClr val="695F84"/>
                </a:solidFill>
              </a:rPr>
              <a:t>Gameplay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83564-77E1-4862-8837-CFCA6565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22853"/>
                </a:solidFill>
              </a:defRPr>
            </a:pPr>
            <a:r>
              <a:rPr sz="3150" b="1">
                <a:solidFill>
                  <a:srgbClr val="322853"/>
                </a:solidFill>
              </a:rPr>
              <a:t>核心玩法循环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4372FC-927E-49DD-9EBC-DFA399E7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95F84"/>
                </a:solidFill>
              </a:defRPr>
            </a:pPr>
            <a:r>
              <a:rPr sz="1575">
                <a:solidFill>
                  <a:srgbClr val="695F84"/>
                </a:solidFill>
              </a:rPr>
              <a:t>不要让评委读大段说明：用一条路线展示“读日志 -&gt; 战斗 -&gt; 成长 -&gt; Boss -&gt; 结局”。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D32E74-80C9-4C84-ADA7-FA08168B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1057275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80B8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fba16d349f47aa"/>
          <a:stretch xmlns:a="http://schemas.openxmlformats.org/drawingml/2006/main"/>
        </p:blipFill>
        <p:spPr>
          <a:xfrm xmlns:a="http://schemas.openxmlformats.org/drawingml/2006/main">
            <a:off x="2892425" y="2190750"/>
            <a:ext cx="6197600" cy="3486150"/>
          </a:xfrm>
          <a:prstGeom xmlns:a="http://schemas.openxmlformats.org/drawingml/2006/main" prst="roundRect">
            <a:avLst>
              <a:gd name="adj" fmla="val 3279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4885F4-CF02-4609-906B-E5EEF17E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95F84"/>
                </a:solidFill>
              </a:defRPr>
            </a:pPr>
            <a:r>
              <a:rPr sz="900">
                <a:solidFill>
                  <a:srgbClr val="695F84"/>
                </a:solidFill>
              </a:rPr>
              <a:t>Demo Link / Video Link / Team：待回填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BE3300-7EC8-4AF8-8CB7-9065EB37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515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34893"/>
                </a:solidFill>
              </a:defRPr>
            </a:pPr>
            <a:r>
              <a:rPr sz="825">
                <a:solidFill>
                  <a:srgbClr val="634893"/>
                </a:solidFill>
              </a:rPr>
              <a:t>No fake deployment, no fake demo video, no fake Unity screenshots.</a:t>
            </a:r>
          </a:p>
        </p:txBody>
      </p:sp>
    </p:spTree>
    <p:extLst>
      <p:ext uri="{BB962C8B-B14F-4D97-AF65-F5344CB8AC3E}">
        <p14:creationId xmlns:p14="http://schemas.microsoft.com/office/powerpoint/2010/main" val="11933609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7A6D17-66C8-4B28-8673-EFD32A02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61950" y="4953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C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1598C4-C788-4CB7-BD24-4ED34AFF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-4381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0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C09D82-9FC5-49AE-93F1-9150A6D1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56959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49FFF8-554A-473B-B900-10605A14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80B8"/>
                </a:solidFill>
              </a:defRPr>
            </a:pPr>
            <a:r>
              <a:rPr sz="975" b="1">
                <a:solidFill>
                  <a:srgbClr val="FF80B8"/>
                </a:solidFill>
              </a:rPr>
              <a:t>04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9BAB6E-132C-407A-AA52-0E5B13B6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4325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95F84"/>
                </a:solidFill>
              </a:defRPr>
            </a:pPr>
            <a:r>
              <a:rPr sz="975" b="1">
                <a:solidFill>
                  <a:srgbClr val="695F84"/>
                </a:solidFill>
              </a:rPr>
              <a:t>Cast &amp; Enemies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0799C6-96F1-4922-A4A5-02CD9748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22853"/>
                </a:solidFill>
              </a:defRPr>
            </a:pPr>
            <a:r>
              <a:rPr sz="3150" b="1">
                <a:solidFill>
                  <a:srgbClr val="322853"/>
                </a:solidFill>
              </a:rPr>
              <a:t>角色与怪物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3C9F68-EEA8-4116-86AE-B40AFCBF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95F84"/>
                </a:solidFill>
              </a:defRPr>
            </a:pPr>
            <a:r>
              <a:rPr sz="1575">
                <a:solidFill>
                  <a:srgbClr val="695F84"/>
                </a:solidFill>
              </a:rPr>
              <a:t>这一页不讲系统，只让评委看到：主角、NPC、普通怪、精英怪和 Boss 占位都已经有真实素材。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80E1D4-C329-43AF-A9E6-0EF31FC2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5143500" cy="3676650"/>
          </a:xfrm>
          <a:prstGeom xmlns:a="http://schemas.openxmlformats.org/drawingml/2006/main" prst="roundRect">
            <a:avLst>
              <a:gd name="adj" fmla="val 41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80B8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9677fdd5ca47f5"/>
          <a:stretch xmlns:a="http://schemas.openxmlformats.org/drawingml/2006/main"/>
        </p:blipFill>
        <p:spPr>
          <a:xfrm xmlns:a="http://schemas.openxmlformats.org/drawingml/2006/main">
            <a:off x="742950" y="2551509"/>
            <a:ext cx="4914900" cy="2764631"/>
          </a:xfrm>
          <a:prstGeom xmlns:a="http://schemas.openxmlformats.org/drawingml/2006/main" prst="roundRect">
            <a:avLst>
              <a:gd name="adj" fmla="val 3315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2557EB-6DE8-4712-9400-EB8CDBDD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5143500" cy="3676650"/>
          </a:xfrm>
          <a:prstGeom xmlns:a="http://schemas.openxmlformats.org/drawingml/2006/main" prst="roundRect">
            <a:avLst>
              <a:gd name="adj" fmla="val 41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4CDFF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8e68b11094c5d"/>
          <a:stretch xmlns:a="http://schemas.openxmlformats.org/drawingml/2006/main"/>
        </p:blipFill>
        <p:spPr>
          <a:xfrm xmlns:a="http://schemas.openxmlformats.org/drawingml/2006/main">
            <a:off x="6305550" y="2551509"/>
            <a:ext cx="4914900" cy="2764631"/>
          </a:xfrm>
          <a:prstGeom xmlns:a="http://schemas.openxmlformats.org/drawingml/2006/main" prst="roundRect">
            <a:avLst>
              <a:gd name="adj" fmla="val 3315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C0FB65-3CF5-407C-B7C2-66A4EA6A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95F84"/>
                </a:solidFill>
              </a:defRPr>
            </a:pPr>
            <a:r>
              <a:rPr sz="900">
                <a:solidFill>
                  <a:srgbClr val="695F84"/>
                </a:solidFill>
              </a:rPr>
              <a:t>Demo Link / Video Link / Team：待回填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CDCE58-9AB7-4A93-9DE0-B6209090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515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34893"/>
                </a:solidFill>
              </a:defRPr>
            </a:pPr>
            <a:r>
              <a:rPr sz="825">
                <a:solidFill>
                  <a:srgbClr val="634893"/>
                </a:solidFill>
              </a:rPr>
              <a:t>No fake deployment, no fake demo video, no fake Unity screenshots.</a:t>
            </a:r>
          </a:p>
        </p:txBody>
      </p:sp>
    </p:spTree>
    <p:extLst>
      <p:ext uri="{BB962C8B-B14F-4D97-AF65-F5344CB8AC3E}">
        <p14:creationId xmlns:p14="http://schemas.microsoft.com/office/powerpoint/2010/main" val="15334204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B671F4-450C-4687-AED6-5D27480A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61950" y="4953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C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3B25CE-1506-4F0C-AE90-27DE61A0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-4381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0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194E04-DA53-4990-A747-4779600E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56959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C612D6-59FB-4E6C-BF78-CBABE61D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80B8"/>
                </a:solidFill>
              </a:defRPr>
            </a:pPr>
            <a:r>
              <a:rPr sz="975" b="1">
                <a:solidFill>
                  <a:srgbClr val="FF80B8"/>
                </a:solidFill>
              </a:rPr>
              <a:t>05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30D75-7775-44CF-A973-3B2B227A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4325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95F84"/>
                </a:solidFill>
              </a:defRPr>
            </a:pPr>
            <a:r>
              <a:rPr sz="975" b="1">
                <a:solidFill>
                  <a:srgbClr val="695F84"/>
                </a:solidFill>
              </a:rPr>
              <a:t>Narrative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6CECB-C040-48B6-8DA1-EC3CC900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6953250" cy="4762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4CDFF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818ffce3064d1d"/>
          <a:stretch xmlns:a="http://schemas.openxmlformats.org/drawingml/2006/main"/>
        </p:blipFill>
        <p:spPr>
          <a:xfrm xmlns:a="http://schemas.openxmlformats.org/drawingml/2006/main">
            <a:off x="666750" y="1347192"/>
            <a:ext cx="6724650" cy="3782616"/>
          </a:xfrm>
          <a:prstGeom xmlns:a="http://schemas.openxmlformats.org/drawingml/2006/main" prst="roundRect">
            <a:avLst>
              <a:gd name="adj" fmla="val 252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902E91-7B7F-40C8-9E7C-E4797D2A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7630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322853"/>
                </a:solidFill>
              </a:defRPr>
            </a:pPr>
            <a:r>
              <a:rPr sz="2700" b="1">
                <a:solidFill>
                  <a:srgbClr val="322853"/>
                </a:solidFill>
              </a:rPr>
              <a:t>AI 叙事如何进入游戏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B696C9-F69D-4813-B6EC-6E8B0385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571625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95F84"/>
                </a:solidFill>
              </a:defRPr>
            </a:pPr>
            <a:r>
              <a:rPr sz="1650">
                <a:solidFill>
                  <a:srgbClr val="695F84"/>
                </a:solidFill>
              </a:rPr>
              <a:t>AI 内容不是只放在项目书里，而是以“工坊记忆日志”和 NPC 对话进入玩家流程。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728952-2CC1-4B77-A262-F66D7A98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09875"/>
            <a:ext cx="32194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DDEF"/>
          </a:solidFill>
          <a:ln xmlns:a="http://schemas.openxmlformats.org/drawingml/2006/main" w="14288">
            <a:solidFill>
              <a:srgbClr val="FF80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D6DAA2-D7EB-4301-A870-6588F6D7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622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0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DFDF8A-E81B-48D5-90D1-2141A0C9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241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22853"/>
                </a:solidFill>
              </a:defRPr>
            </a:pPr>
            <a:r>
              <a:rPr sz="1575" b="1">
                <a:solidFill>
                  <a:srgbClr val="322853"/>
                </a:solidFill>
              </a:rPr>
              <a:t>世界观与势力关系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3C0030-854A-4BF3-88DB-221A4892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76625"/>
            <a:ext cx="32194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EF5FF"/>
          </a:solidFill>
          <a:ln xmlns:a="http://schemas.openxmlformats.org/drawingml/2006/main" w="14288">
            <a:solidFill>
              <a:srgbClr val="74C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ECA8DC-3223-472A-94CA-5F0A8FD8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290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C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129AD5-E91D-4DBF-82AF-9B02467C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909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22853"/>
                </a:solidFill>
              </a:defRPr>
            </a:pPr>
            <a:r>
              <a:rPr sz="1575" b="1">
                <a:solidFill>
                  <a:srgbClr val="322853"/>
                </a:solidFill>
              </a:rPr>
              <a:t>房间日志与 NPC 引导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900BE1-BA69-45C1-A05E-4735CA4D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143375"/>
            <a:ext cx="32194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DDEF"/>
          </a:solidFill>
          <a:ln xmlns:a="http://schemas.openxmlformats.org/drawingml/2006/main" w="14288">
            <a:solidFill>
              <a:srgbClr val="FF80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412AF5-7422-4FE0-8039-0E20190A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957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0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373CF0-8061-4F6C-A852-DB7A7D8C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576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22853"/>
                </a:solidFill>
              </a:defRPr>
            </a:pPr>
            <a:r>
              <a:rPr sz="1575" b="1">
                <a:solidFill>
                  <a:srgbClr val="322853"/>
                </a:solidFill>
              </a:rPr>
              <a:t>Boss 背景与结局文本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71C2EE-D519-4D74-AAB5-B774B098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95F84"/>
                </a:solidFill>
              </a:defRPr>
            </a:pPr>
            <a:r>
              <a:rPr sz="900">
                <a:solidFill>
                  <a:srgbClr val="695F84"/>
                </a:solidFill>
              </a:rPr>
              <a:t>Demo Link / Video Link / Team：待回填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07B9F7-452F-495B-82B2-65EE59FE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515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34893"/>
                </a:solidFill>
              </a:defRPr>
            </a:pPr>
            <a:r>
              <a:rPr sz="825">
                <a:solidFill>
                  <a:srgbClr val="634893"/>
                </a:solidFill>
              </a:rPr>
              <a:t>No fake deployment, no fake demo video, no fake Unity screenshots.</a:t>
            </a:r>
          </a:p>
        </p:txBody>
      </p:sp>
    </p:spTree>
    <p:extLst>
      <p:ext uri="{BB962C8B-B14F-4D97-AF65-F5344CB8AC3E}">
        <p14:creationId xmlns:p14="http://schemas.microsoft.com/office/powerpoint/2010/main" val="13084294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688D53-3601-496C-BEFA-CEB7D5FC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61950" y="4953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C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46C7D-691D-4892-85F8-2D3928E3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-4381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0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49EF9-F08A-4270-A603-99110787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56959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5F279-525C-4DCC-A155-EE6D5A36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80B8"/>
                </a:solidFill>
              </a:defRPr>
            </a:pPr>
            <a:r>
              <a:rPr sz="975" b="1">
                <a:solidFill>
                  <a:srgbClr val="FF80B8"/>
                </a:solidFill>
              </a:rPr>
              <a:t>06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38E864-D7D7-40E7-9F6D-7036B922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4325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95F84"/>
                </a:solidFill>
              </a:defRPr>
            </a:pPr>
            <a:r>
              <a:rPr sz="975" b="1">
                <a:solidFill>
                  <a:srgbClr val="695F84"/>
                </a:solidFill>
              </a:rPr>
              <a:t>Demo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80F35-BC85-475A-9F04-8C94F9EE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22853"/>
                </a:solidFill>
              </a:defRPr>
            </a:pPr>
            <a:r>
              <a:rPr sz="3150" b="1">
                <a:solidFill>
                  <a:srgbClr val="322853"/>
                </a:solidFill>
              </a:rPr>
              <a:t>Demo 录屏路线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AD9B74-AEBD-4347-9C07-8D51559E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95F84"/>
                </a:solidFill>
              </a:defRPr>
            </a:pPr>
            <a:r>
              <a:rPr sz="1575">
                <a:solidFill>
                  <a:srgbClr val="695F84"/>
                </a:solidFill>
              </a:rPr>
              <a:t>按时间轴录到：开场、日志、战斗、成长、Boss、Victory。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E6A497-910A-44CB-8D67-DE73D38A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0572750" cy="381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80B8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035baf570c4783"/>
          <a:stretch xmlns:a="http://schemas.openxmlformats.org/drawingml/2006/main"/>
        </p:blipFill>
        <p:spPr>
          <a:xfrm xmlns:a="http://schemas.openxmlformats.org/drawingml/2006/main">
            <a:off x="2769658" y="2114550"/>
            <a:ext cx="6366933" cy="3581400"/>
          </a:xfrm>
          <a:prstGeom xmlns:a="http://schemas.openxmlformats.org/drawingml/2006/main" prst="roundRect">
            <a:avLst>
              <a:gd name="adj" fmla="val 3191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E17D79-ACD0-4C41-A14C-8E35C798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95F84"/>
                </a:solidFill>
              </a:defRPr>
            </a:pPr>
            <a:r>
              <a:rPr sz="900">
                <a:solidFill>
                  <a:srgbClr val="695F84"/>
                </a:solidFill>
              </a:rPr>
              <a:t>Demo Link / Video Link / Team：待回填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3DC0C2-7AC3-4BED-B2BA-A1AE96DA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515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34893"/>
                </a:solidFill>
              </a:defRPr>
            </a:pPr>
            <a:r>
              <a:rPr sz="825">
                <a:solidFill>
                  <a:srgbClr val="634893"/>
                </a:solidFill>
              </a:rPr>
              <a:t>No fake deployment, no fake demo video, no fake Unity screenshots.</a:t>
            </a:r>
          </a:p>
        </p:txBody>
      </p:sp>
    </p:spTree>
    <p:extLst>
      <p:ext uri="{BB962C8B-B14F-4D97-AF65-F5344CB8AC3E}">
        <p14:creationId xmlns:p14="http://schemas.microsoft.com/office/powerpoint/2010/main" val="10470075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2D7C96-513E-40B8-98AA-765019FC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61950" y="4953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C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D4037-A51F-4A0A-A1D6-1A0FF487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-4381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0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6CC02-ABD0-4E09-A10C-613084C0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56959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69301-4DFD-43CC-A9CE-E35CE225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80B8"/>
                </a:solidFill>
              </a:defRPr>
            </a:pPr>
            <a:r>
              <a:rPr sz="975" b="1">
                <a:solidFill>
                  <a:srgbClr val="FF80B8"/>
                </a:solidFill>
              </a:rPr>
              <a:t>07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9C5165-7269-4A14-987F-A21087F0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4325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95F84"/>
                </a:solidFill>
              </a:defRPr>
            </a:pPr>
            <a:r>
              <a:rPr sz="975" b="1">
                <a:solidFill>
                  <a:srgbClr val="695F84"/>
                </a:solidFill>
              </a:rPr>
              <a:t>Tech &amp; WebGL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D8D8A-0313-41A4-911C-71C9DA2F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22853"/>
                </a:solidFill>
              </a:defRPr>
            </a:pPr>
            <a:r>
              <a:rPr sz="3150" b="1">
                <a:solidFill>
                  <a:srgbClr val="322853"/>
                </a:solidFill>
              </a:rPr>
              <a:t>技术与部署结构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D035D-24B7-4256-8EE0-378D5776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95F84"/>
                </a:solidFill>
              </a:defRPr>
            </a:pPr>
            <a:r>
              <a:rPr sz="1575">
                <a:solidFill>
                  <a:srgbClr val="695F84"/>
                </a:solidFill>
              </a:rPr>
              <a:t>Unity 2D 原型模块保持轻量拆分，WebGL 构建和静态站点部署已经准备，但不伪造已部署状态。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A0BDA6-6901-4CF0-A80E-F4A309F9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10572750" cy="38862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4CDFF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2e8c6a2b0b4226"/>
          <a:stretch xmlns:a="http://schemas.openxmlformats.org/drawingml/2006/main"/>
        </p:blipFill>
        <p:spPr>
          <a:xfrm xmlns:a="http://schemas.openxmlformats.org/drawingml/2006/main">
            <a:off x="2701925" y="2076450"/>
            <a:ext cx="6502400" cy="3657600"/>
          </a:xfrm>
          <a:prstGeom xmlns:a="http://schemas.openxmlformats.org/drawingml/2006/main" prst="roundRect">
            <a:avLst>
              <a:gd name="adj" fmla="val 3125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1DB641-9513-455B-A070-A4BF79E4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95F84"/>
                </a:solidFill>
              </a:defRPr>
            </a:pPr>
            <a:r>
              <a:rPr sz="900">
                <a:solidFill>
                  <a:srgbClr val="695F84"/>
                </a:solidFill>
              </a:rPr>
              <a:t>Demo Link / Video Link / Team：待回填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FB6A82-9F26-40BC-8C50-19181720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515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34893"/>
                </a:solidFill>
              </a:defRPr>
            </a:pPr>
            <a:r>
              <a:rPr sz="825">
                <a:solidFill>
                  <a:srgbClr val="634893"/>
                </a:solidFill>
              </a:rPr>
              <a:t>No fake deployment, no fake demo video, no fake Unity screenshots.</a:t>
            </a:r>
          </a:p>
        </p:txBody>
      </p:sp>
    </p:spTree>
    <p:extLst>
      <p:ext uri="{BB962C8B-B14F-4D97-AF65-F5344CB8AC3E}">
        <p14:creationId xmlns:p14="http://schemas.microsoft.com/office/powerpoint/2010/main" val="9840316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ECC905-106A-4614-A4FF-634E9617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61950" y="4953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C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D1C753-FF39-47E3-9C06-829BC482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-4381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0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8A3C43-6207-4862-B96E-66CBE33D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56959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931CF5-1155-4562-8F6E-89A70AF4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80B8"/>
                </a:solidFill>
              </a:defRPr>
            </a:pPr>
            <a:r>
              <a:rPr sz="975" b="1">
                <a:solidFill>
                  <a:srgbClr val="FF80B8"/>
                </a:solidFill>
              </a:rPr>
              <a:t>08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5A82BF-E149-416A-9319-D46E62D1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4325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95F84"/>
                </a:solidFill>
              </a:defRPr>
            </a:pPr>
            <a:r>
              <a:rPr sz="975" b="1">
                <a:solidFill>
                  <a:srgbClr val="695F84"/>
                </a:solidFill>
              </a:rPr>
              <a:t>Submission Status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A8042-FFBB-4A0F-8F5A-4283467E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6858000" cy="4895850"/>
          </a:xfrm>
          <a:prstGeom xmlns:a="http://schemas.openxmlformats.org/drawingml/2006/main" prst="roundRect">
            <a:avLst>
              <a:gd name="adj" fmla="val 31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80B8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e4645b140e40a2"/>
          <a:stretch xmlns:a="http://schemas.openxmlformats.org/drawingml/2006/main"/>
        </p:blipFill>
        <p:spPr>
          <a:xfrm xmlns:a="http://schemas.openxmlformats.org/drawingml/2006/main">
            <a:off x="666750" y="1421606"/>
            <a:ext cx="6629400" cy="3729038"/>
          </a:xfrm>
          <a:prstGeom xmlns:a="http://schemas.openxmlformats.org/drawingml/2006/main" prst="roundRect">
            <a:avLst>
              <a:gd name="adj" fmla="val 244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91BD74-4D7D-4EBD-B9A6-D1B9B41F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87630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22853"/>
                </a:solidFill>
              </a:defRPr>
            </a:pPr>
            <a:r>
              <a:rPr sz="2850" b="1">
                <a:solidFill>
                  <a:srgbClr val="322853"/>
                </a:solidFill>
              </a:rPr>
              <a:t>亮点与提交状态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0384A6-2FB2-4E82-A6BF-5C341543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5049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95F84"/>
                </a:solidFill>
              </a:defRPr>
            </a:pPr>
            <a:r>
              <a:rPr sz="1650">
                <a:solidFill>
                  <a:srgbClr val="695F84"/>
                </a:solidFill>
              </a:rPr>
              <a:t>这页要诚实：哪些已经准备好，哪些必须由人类最后回填。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223DC3-363E-4BAB-8378-11F6DFDA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19375"/>
            <a:ext cx="3429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DDEF"/>
          </a:solidFill>
          <a:ln xmlns:a="http://schemas.openxmlformats.org/drawingml/2006/main" w="14288">
            <a:solidFill>
              <a:srgbClr val="FF80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D0C332-AA53-4184-8437-ADD8B3F3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717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0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E58807-7F81-4B46-94D8-3FC4738F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3367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22853"/>
                </a:solidFill>
              </a:defRPr>
            </a:pPr>
            <a:r>
              <a:rPr sz="1575" b="1">
                <a:solidFill>
                  <a:srgbClr val="322853"/>
                </a:solidFill>
              </a:rPr>
              <a:t>已完成：海报、PPT、部署文档、截图工具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4E3AF3-03B0-4D95-8118-65DA5464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81375"/>
            <a:ext cx="3429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EF5FF"/>
          </a:solidFill>
          <a:ln xmlns:a="http://schemas.openxmlformats.org/drawingml/2006/main" w="14288">
            <a:solidFill>
              <a:srgbClr val="74C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5C7D27-9F8E-43E1-944D-D6D9796D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337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C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7872E0-5CAE-4A8C-AA64-553709E0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9567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22853"/>
                </a:solidFill>
              </a:defRPr>
            </a:pPr>
            <a:r>
              <a:rPr sz="1575" b="1">
                <a:solidFill>
                  <a:srgbClr val="322853"/>
                </a:solidFill>
              </a:rPr>
              <a:t>待完成：WebGL 链接、Demo 视频、CodeBuddy 导出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7A4D39-A409-43C7-A303-8C43A7D5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43375"/>
            <a:ext cx="3429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DDEF"/>
          </a:solidFill>
          <a:ln xmlns:a="http://schemas.openxmlformats.org/drawingml/2006/main" w="14288">
            <a:solidFill>
              <a:srgbClr val="FF80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FF2D22-A080-47F4-83C6-E0A3655D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957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0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F92D16-0978-48E6-ABC6-A197AC7F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5767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22853"/>
                </a:solidFill>
              </a:defRPr>
            </a:pPr>
            <a:r>
              <a:rPr sz="1575" b="1">
                <a:solidFill>
                  <a:srgbClr val="322853"/>
                </a:solidFill>
              </a:rPr>
              <a:t>下一步：Unity 截图回填后录最终视频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EBF0C2-A8F8-4E50-803A-D8E8A948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95F84"/>
                </a:solidFill>
              </a:defRPr>
            </a:pPr>
            <a:r>
              <a:rPr sz="900">
                <a:solidFill>
                  <a:srgbClr val="695F84"/>
                </a:solidFill>
              </a:rPr>
              <a:t>Demo Link / Video Link / Team：待回填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9E6081-79CC-46CC-9AF1-58771495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515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34893"/>
                </a:solidFill>
              </a:defRPr>
            </a:pPr>
            <a:r>
              <a:rPr sz="825">
                <a:solidFill>
                  <a:srgbClr val="634893"/>
                </a:solidFill>
              </a:rPr>
              <a:t>No fake deployment, no fake demo video, no fake Unity screenshots.</a:t>
            </a:r>
          </a:p>
        </p:txBody>
      </p:sp>
    </p:spTree>
    <p:extLst>
      <p:ext uri="{BB962C8B-B14F-4D97-AF65-F5344CB8AC3E}">
        <p14:creationId xmlns:p14="http://schemas.microsoft.com/office/powerpoint/2010/main" val="12492586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2026-06-15T04:57:53.1730000Z</dcterms:created>
  <dcterms:modified xsi:type="dcterms:W3CDTF">2026-06-15T04:57:53.1730000Z</dcterms:modified>
</coreProperties>
</file>